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Normal</c:v>
                  </c:pt>
                  <c:pt idx="1">
                    <c:v>Attaque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62000</c:v>
                </c:pt>
                <c:pt idx="1">
                  <c:v>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Attaque</c:v>
                </c:pt>
              </c:strCache>
            </c:strRef>
          </c:tx>
          <c:spPr>
            <a:solidFill>
              <a:srgbClr val="7C4D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Normal</c:v>
                  </c:pt>
                  <c:pt idx="1">
                    <c:v>Attaque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600</c:v>
                </c:pt>
                <c:pt idx="1">
                  <c:v>61900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Prédiction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Nombre de cas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60543" y="1171575"/>
            <a:ext cx="50229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1500"/>
              </a:spcAft>
              <a:buNone/>
            </a:pPr>
            <a:r>
              <a:rPr lang="en-US" sz="45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Système IDS basé sur le ML-Ops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004742" y="2505075"/>
            <a:ext cx="71345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Détection d'intrusions en temps réel avec apprentissage automatique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00500" y="3114675"/>
            <a:ext cx="1143000" cy="19050"/>
          </a:xfrm>
          <a:prstGeom prst="rect">
            <a:avLst/>
          </a:prstGeom>
          <a:solidFill>
            <a:srgbClr val="7C4D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4742" y="3362325"/>
            <a:ext cx="71345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CSI 4539 - Automne 2025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04742" y="3705225"/>
            <a:ext cx="71345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Université d'Ottawa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et Motivation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90650"/>
            <a:ext cx="8382000" cy="1040011"/>
          </a:xfrm>
          <a:prstGeom prst="roundRect">
            <a:avLst>
              <a:gd name="adj" fmla="val 7327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390650"/>
            <a:ext cx="0" cy="1040011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0550" y="1562100"/>
            <a:ext cx="816102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Problématique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0550" y="1821061"/>
            <a:ext cx="81610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cyberattaques augmentent en complexité et fréquence, nécessitant des systèmes de détection automatisés et adaptatifs pour protéger les infrastructures réseau.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621161"/>
            <a:ext cx="8382000" cy="1040011"/>
          </a:xfrm>
          <a:prstGeom prst="roundRect">
            <a:avLst>
              <a:gd name="adj" fmla="val 7327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621161"/>
            <a:ext cx="0" cy="1040011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550" y="2792611"/>
            <a:ext cx="816102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Proposée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0550" y="3051572"/>
            <a:ext cx="81610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système IDS basé sur l'apprentissage automatique avec architecture MLOps complète, permettant la détection en temps réel et l'évolutivité opérationnelle.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3851672"/>
            <a:ext cx="2692450" cy="914251"/>
          </a:xfrm>
          <a:prstGeom prst="roundRect">
            <a:avLst>
              <a:gd name="adj" fmla="val 8335"/>
            </a:avLst>
          </a:prstGeom>
          <a:solidFill>
            <a:srgbClr val="1E24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093" y="4023122"/>
            <a:ext cx="247426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~125K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90093" y="4434483"/>
            <a:ext cx="24742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Connexions analysées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25850" y="3851672"/>
            <a:ext cx="2692450" cy="914251"/>
          </a:xfrm>
          <a:prstGeom prst="roundRect">
            <a:avLst>
              <a:gd name="adj" fmla="val 8335"/>
            </a:avLst>
          </a:prstGeom>
          <a:solidFill>
            <a:srgbClr val="1E24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34942" y="4023122"/>
            <a:ext cx="247426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&lt;100ms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334942" y="4434483"/>
            <a:ext cx="24742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Latence bout-à-bout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70699" y="3851672"/>
            <a:ext cx="2692450" cy="914251"/>
          </a:xfrm>
          <a:prstGeom prst="roundRect">
            <a:avLst>
              <a:gd name="adj" fmla="val 8335"/>
            </a:avLst>
          </a:prstGeom>
          <a:solidFill>
            <a:srgbClr val="1E24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79792" y="4023122"/>
            <a:ext cx="247426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179792" y="4434483"/>
            <a:ext cx="24742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Précision du modèle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des données: Kaggle Intrusion Detection Classifier Dataset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Objectifs du Projet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44780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7C4D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390650"/>
            <a:ext cx="83553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Développer un pipeline MLOps complet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571500" y="1600200"/>
            <a:ext cx="83553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de bout en bout incluant ingestion, entraînement, déploiement et surveillance.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81000" y="201453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7C4D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1957388"/>
            <a:ext cx="83553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Implémenter la détection en temps réel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71500" y="2166938"/>
            <a:ext cx="83553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Traitement de flux continu avec latence inférieure à 100ms pour identifier les menaces immédiatement.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258127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7C4D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2524125"/>
            <a:ext cx="83553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Assurer la scalabilité et la conteneurisation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71500" y="2733675"/>
            <a:ext cx="83553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microservices avec Docker permettant le déploiement flexible et l'orchestration automatisée.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1000" y="314801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7C4D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500" y="3090863"/>
            <a:ext cx="83553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Créer une interface de surveillance interactive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71500" y="3300413"/>
            <a:ext cx="83553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React avec WebSocket pour visualiser les menaces en direct et générer des alertes automatiques.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81000" y="37147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7C4D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1500" y="3657600"/>
            <a:ext cx="83553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Atteindre une haute précision de détection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571500" y="3867150"/>
            <a:ext cx="83553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Optimisation du modèle pour minimiser les faux positifs tout en maintenant une détection efficace des attaques.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du Système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90650"/>
            <a:ext cx="8382000" cy="3752850"/>
          </a:xfrm>
          <a:prstGeom prst="roundRect">
            <a:avLst>
              <a:gd name="adj" fmla="val 2030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41314" y="1863328"/>
            <a:ext cx="1585466" cy="605582"/>
          </a:xfrm>
          <a:prstGeom prst="roundRect">
            <a:avLst>
              <a:gd name="adj" fmla="val 9437"/>
            </a:avLst>
          </a:prstGeom>
          <a:solidFill>
            <a:srgbClr val="1E2442"/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19769" y="1996678"/>
            <a:ext cx="12285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Générateur de Trafic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119769" y="2188964"/>
            <a:ext cx="12285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 réseau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622030" y="2032695"/>
            <a:ext cx="149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63876" y="1882378"/>
            <a:ext cx="1333500" cy="567482"/>
          </a:xfrm>
          <a:prstGeom prst="roundRect">
            <a:avLst>
              <a:gd name="adj" fmla="val 10071"/>
            </a:avLst>
          </a:prstGeom>
          <a:solidFill>
            <a:srgbClr val="7C4D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25420" y="1996678"/>
            <a:ext cx="10104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025420" y="2188964"/>
            <a:ext cx="10104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d'attente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292626" y="2032695"/>
            <a:ext cx="149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34471" y="1863328"/>
            <a:ext cx="1668214" cy="605582"/>
          </a:xfrm>
          <a:prstGeom prst="roundRect">
            <a:avLst>
              <a:gd name="adj" fmla="val 9437"/>
            </a:avLst>
          </a:prstGeom>
          <a:solidFill>
            <a:srgbClr val="1E2442"/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2099" y="1996678"/>
            <a:ext cx="13129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Classificateur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712099" y="2188964"/>
            <a:ext cx="13129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Inférence ML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640985" y="2583210"/>
            <a:ext cx="1923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67550" y="2964210"/>
            <a:ext cx="1333500" cy="605582"/>
          </a:xfrm>
          <a:prstGeom prst="roundRect">
            <a:avLst>
              <a:gd name="adj" fmla="val 9437"/>
            </a:avLst>
          </a:prstGeom>
          <a:solidFill>
            <a:srgbClr val="1E2442"/>
          </a:solidFill>
          <a:ln w="19050">
            <a:solidFill>
              <a:srgbClr val="7C4D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48525" y="3097560"/>
            <a:ext cx="9715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Modèle ML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7248525" y="328984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Tree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477643" y="3684091"/>
            <a:ext cx="1923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044154" y="4084141"/>
            <a:ext cx="1333500" cy="567482"/>
          </a:xfrm>
          <a:prstGeom prst="roundRect">
            <a:avLst>
              <a:gd name="adj" fmla="val 10071"/>
            </a:avLst>
          </a:prstGeom>
          <a:solidFill>
            <a:srgbClr val="7C4D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205698" y="4198441"/>
            <a:ext cx="10104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Pub/Sub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2205698" y="4390727"/>
            <a:ext cx="10104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Diffusion résultats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472904" y="4234458"/>
            <a:ext cx="149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14750" y="4065091"/>
            <a:ext cx="1524000" cy="605582"/>
          </a:xfrm>
          <a:prstGeom prst="roundRect">
            <a:avLst>
              <a:gd name="adj" fmla="val 9437"/>
            </a:avLst>
          </a:prstGeom>
          <a:solidFill>
            <a:srgbClr val="1E2442"/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893820" y="4198441"/>
            <a:ext cx="11658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UI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3893820" y="4390727"/>
            <a:ext cx="11658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334000" y="4234458"/>
            <a:ext cx="149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75846" y="4065091"/>
            <a:ext cx="1524000" cy="605582"/>
          </a:xfrm>
          <a:prstGeom prst="roundRect">
            <a:avLst>
              <a:gd name="adj" fmla="val 9437"/>
            </a:avLst>
          </a:prstGeom>
          <a:solidFill>
            <a:srgbClr val="1E2442"/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54916" y="4198441"/>
            <a:ext cx="11658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React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5754916" y="4390727"/>
            <a:ext cx="11658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utilisateur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basée sur microservices avec messagerie asynchrone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Composants Principaux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90650"/>
            <a:ext cx="2705100" cy="3086100"/>
          </a:xfrm>
          <a:prstGeom prst="roundRect">
            <a:avLst>
              <a:gd name="adj" fmla="val 2817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390650"/>
            <a:ext cx="0" cy="308610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2450" y="1524000"/>
            <a:ext cx="2448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Générateur de Trafic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52450" y="1790700"/>
            <a:ext cx="2448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Simule le trafic réseau et publie vers Redis avec débit configurable.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19450" y="1390650"/>
            <a:ext cx="2705100" cy="3086100"/>
          </a:xfrm>
          <a:prstGeom prst="roundRect">
            <a:avLst>
              <a:gd name="adj" fmla="val 2817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0" y="1390650"/>
            <a:ext cx="0" cy="3086100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900" y="1524000"/>
            <a:ext cx="2448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Classificateur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390900" y="1790700"/>
            <a:ext cx="2448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Effectue l'inférence ML en temps réel avec FastAPI et prétraitement automatique.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57900" y="1390650"/>
            <a:ext cx="2705100" cy="3086100"/>
          </a:xfrm>
          <a:prstGeom prst="roundRect">
            <a:avLst>
              <a:gd name="adj" fmla="val 2817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76950" y="1390650"/>
            <a:ext cx="0" cy="308610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9350" y="1524000"/>
            <a:ext cx="2448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React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229350" y="1790700"/>
            <a:ext cx="2448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de surveillance en temps réel avec WebSocket et visualisations.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et Infrastructure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90650"/>
            <a:ext cx="2705100" cy="3086100"/>
          </a:xfrm>
          <a:prstGeom prst="roundRect">
            <a:avLst>
              <a:gd name="adj" fmla="val 2817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390650"/>
            <a:ext cx="0" cy="3086100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2450" y="1524000"/>
            <a:ext cx="2448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ML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52450" y="1790700"/>
            <a:ext cx="2448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Entraînement complet avec ingénierie des features et sérialisation Joblib.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19450" y="1390650"/>
            <a:ext cx="2705100" cy="3086100"/>
          </a:xfrm>
          <a:prstGeom prst="roundRect">
            <a:avLst>
              <a:gd name="adj" fmla="val 2817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0" y="1390650"/>
            <a:ext cx="0" cy="308610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900" y="1524000"/>
            <a:ext cx="2448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Infrastructure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390900" y="1790700"/>
            <a:ext cx="2448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d'attente et pub/sub pour communication asynchrone entre services.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57900" y="1390650"/>
            <a:ext cx="2705100" cy="3086100"/>
          </a:xfrm>
          <a:prstGeom prst="roundRect">
            <a:avLst>
              <a:gd name="adj" fmla="val 2817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76950" y="1390650"/>
            <a:ext cx="0" cy="3086100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9350" y="1524000"/>
            <a:ext cx="24483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Conteneurisation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229350" y="1790700"/>
            <a:ext cx="24483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Déploiement Docker Compose avec 5 conteneurs isolés et orchestration automatisée.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4108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Implémentation Technique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90650"/>
            <a:ext cx="4114800" cy="952500"/>
          </a:xfrm>
          <a:prstGeom prst="roundRect">
            <a:avLst>
              <a:gd name="adj" fmla="val 8000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524000"/>
            <a:ext cx="39250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Technologique Backend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81000" y="2457450"/>
            <a:ext cx="4114800" cy="704850"/>
          </a:xfrm>
          <a:prstGeom prst="roundRect">
            <a:avLst>
              <a:gd name="adj" fmla="val 10811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90800"/>
            <a:ext cx="39250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Technologique Frontend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3276600"/>
            <a:ext cx="4114800" cy="1333500"/>
          </a:xfrm>
          <a:prstGeom prst="roundRect">
            <a:avLst>
              <a:gd name="adj" fmla="val 5714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409950"/>
            <a:ext cx="39250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Modèle d'Apprentissage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14350" y="3657600"/>
            <a:ext cx="3848100" cy="819150"/>
          </a:xfrm>
          <a:prstGeom prst="roundRect">
            <a:avLst>
              <a:gd name="adj" fmla="val 4651"/>
            </a:avLst>
          </a:prstGeom>
          <a:solidFill>
            <a:srgbClr val="1E24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48200" y="1390650"/>
            <a:ext cx="4114800" cy="3752850"/>
          </a:xfrm>
          <a:prstGeom prst="roundRect">
            <a:avLst>
              <a:gd name="adj" fmla="val 2030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81550" y="1524000"/>
            <a:ext cx="39250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de Prétraitement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781550" y="1790700"/>
            <a:ext cx="3848100" cy="757982"/>
          </a:xfrm>
          <a:prstGeom prst="roundRect">
            <a:avLst>
              <a:gd name="adj" fmla="val 5027"/>
            </a:avLst>
          </a:prstGeom>
          <a:solidFill>
            <a:srgbClr val="1E24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95838" y="1790700"/>
            <a:ext cx="0" cy="757982"/>
          </a:xfrm>
          <a:prstGeom prst="line">
            <a:avLst/>
          </a:prstGeom>
          <a:noFill/>
          <a:ln w="28575">
            <a:solidFill>
              <a:srgbClr val="7C4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5375" y="1924050"/>
            <a:ext cx="3701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Nettoyage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05375" y="2122140"/>
            <a:ext cx="370160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Suppression des colonnes non pertinentes et gestion des valeurs manquantes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781550" y="2624882"/>
            <a:ext cx="3848100" cy="611386"/>
          </a:xfrm>
          <a:prstGeom prst="roundRect">
            <a:avLst>
              <a:gd name="adj" fmla="val 6232"/>
            </a:avLst>
          </a:prstGeom>
          <a:solidFill>
            <a:srgbClr val="1E24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95838" y="2624882"/>
            <a:ext cx="0" cy="611386"/>
          </a:xfrm>
          <a:prstGeom prst="line">
            <a:avLst/>
          </a:prstGeom>
          <a:noFill/>
          <a:ln w="28575">
            <a:solidFill>
              <a:srgbClr val="7C4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5375" y="2758232"/>
            <a:ext cx="3701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Encodage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05375" y="2956322"/>
            <a:ext cx="3701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Transformation des variables catégorielles avec One-Hot Encoding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781550" y="3312468"/>
            <a:ext cx="3848100" cy="611386"/>
          </a:xfrm>
          <a:prstGeom prst="roundRect">
            <a:avLst>
              <a:gd name="adj" fmla="val 6232"/>
            </a:avLst>
          </a:prstGeom>
          <a:solidFill>
            <a:srgbClr val="1E24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95838" y="3312468"/>
            <a:ext cx="0" cy="611386"/>
          </a:xfrm>
          <a:prstGeom prst="line">
            <a:avLst/>
          </a:prstGeom>
          <a:noFill/>
          <a:ln w="28575">
            <a:solidFill>
              <a:srgbClr val="7C4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5375" y="3445818"/>
            <a:ext cx="3701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Normalisation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05375" y="3643908"/>
            <a:ext cx="3701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Mise à l'échelle des features numériques pour uniformité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781550" y="4000054"/>
            <a:ext cx="3848100" cy="611386"/>
          </a:xfrm>
          <a:prstGeom prst="roundRect">
            <a:avLst>
              <a:gd name="adj" fmla="val 6232"/>
            </a:avLst>
          </a:prstGeom>
          <a:solidFill>
            <a:srgbClr val="1E24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95838" y="4000054"/>
            <a:ext cx="0" cy="611386"/>
          </a:xfrm>
          <a:prstGeom prst="line">
            <a:avLst/>
          </a:prstGeom>
          <a:noFill/>
          <a:ln w="28575">
            <a:solidFill>
              <a:srgbClr val="7C4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5375" y="4133404"/>
            <a:ext cx="3701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Validation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05375" y="4331494"/>
            <a:ext cx="3701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Vérification de cohérence avant inférence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du Modèle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90650"/>
            <a:ext cx="3291780" cy="2514600"/>
          </a:xfrm>
          <a:prstGeom prst="roundRect">
            <a:avLst>
              <a:gd name="adj" fmla="val 3030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524000"/>
            <a:ext cx="30855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Métriques Principales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514350" y="1790700"/>
            <a:ext cx="3025080" cy="609600"/>
          </a:xfrm>
          <a:prstGeom prst="roundRect">
            <a:avLst>
              <a:gd name="adj" fmla="val 6250"/>
            </a:avLst>
          </a:prstGeom>
          <a:solidFill>
            <a:srgbClr val="1E24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254" y="1885950"/>
            <a:ext cx="2891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1254" y="2171700"/>
            <a:ext cx="2891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Exactitude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14350" y="2476500"/>
            <a:ext cx="3025080" cy="609600"/>
          </a:xfrm>
          <a:prstGeom prst="roundRect">
            <a:avLst>
              <a:gd name="adj" fmla="val 6250"/>
            </a:avLst>
          </a:prstGeom>
          <a:solidFill>
            <a:srgbClr val="1E24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1254" y="2571750"/>
            <a:ext cx="2891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99.1%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1254" y="2857500"/>
            <a:ext cx="2891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Précision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14350" y="3162300"/>
            <a:ext cx="3025080" cy="609600"/>
          </a:xfrm>
          <a:prstGeom prst="roundRect">
            <a:avLst>
              <a:gd name="adj" fmla="val 6250"/>
            </a:avLst>
          </a:prstGeom>
          <a:solidFill>
            <a:srgbClr val="1E24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1254" y="3257550"/>
            <a:ext cx="2891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1254" y="3543300"/>
            <a:ext cx="2891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F1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25180" y="1390650"/>
            <a:ext cx="4937820" cy="3086100"/>
          </a:xfrm>
          <a:prstGeom prst="roundRect">
            <a:avLst>
              <a:gd name="adj" fmla="val 2469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58530" y="1524000"/>
            <a:ext cx="47645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Matrice de Confusion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404545" y="2663130"/>
            <a:ext cx="18146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FA8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Graphique de matrice de confusion</a:t>
            </a:r>
            <a:endParaRPr lang="en-US" sz="9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840480" y="164592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Métriques Système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90650"/>
            <a:ext cx="8382000" cy="1253430"/>
          </a:xfrm>
          <a:prstGeom prst="roundRect">
            <a:avLst>
              <a:gd name="adj" fmla="val 6079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524000"/>
            <a:ext cx="82776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en Temps Réel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514350" y="1790700"/>
            <a:ext cx="2628900" cy="720030"/>
          </a:xfrm>
          <a:prstGeom prst="roundRect">
            <a:avLst>
              <a:gd name="adj" fmla="val 7937"/>
            </a:avLst>
          </a:prstGeom>
          <a:solidFill>
            <a:srgbClr val="1E24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4647" y="1905000"/>
            <a:ext cx="24483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msg/s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4647" y="2263080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Débit du générateur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57550" y="1790700"/>
            <a:ext cx="2628900" cy="720030"/>
          </a:xfrm>
          <a:prstGeom prst="roundRect">
            <a:avLst>
              <a:gd name="adj" fmla="val 7937"/>
            </a:avLst>
          </a:prstGeom>
          <a:solidFill>
            <a:srgbClr val="1E24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47847" y="1905000"/>
            <a:ext cx="24483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500-1K/s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47847" y="2263080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Prédictions/seconde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000750" y="1790700"/>
            <a:ext cx="2628900" cy="720030"/>
          </a:xfrm>
          <a:prstGeom prst="roundRect">
            <a:avLst>
              <a:gd name="adj" fmla="val 7937"/>
            </a:avLst>
          </a:prstGeom>
          <a:solidFill>
            <a:srgbClr val="1E24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1047" y="1905000"/>
            <a:ext cx="24483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&lt;100ms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1047" y="2263080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Latence bout-à-bout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1000" y="2777430"/>
            <a:ext cx="4133850" cy="636240"/>
          </a:xfrm>
          <a:prstGeom prst="roundRect">
            <a:avLst>
              <a:gd name="adj" fmla="val 11977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300" y="2891730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5300" y="3127921"/>
            <a:ext cx="39833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distribuée permettant l'ajout de services selon les besoins.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29150" y="2777430"/>
            <a:ext cx="4133850" cy="636240"/>
          </a:xfrm>
          <a:prstGeom prst="roundRect">
            <a:avLst>
              <a:gd name="adj" fmla="val 11977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43450" y="2891730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Fiabilité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43450" y="3127921"/>
            <a:ext cx="39833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d'erreurs robuste avec surveillance de santé des services.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Livrables du Projet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90650"/>
            <a:ext cx="4124325" cy="602903"/>
          </a:xfrm>
          <a:prstGeom prst="roundRect">
            <a:avLst>
              <a:gd name="adj" fmla="val 12639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390650"/>
            <a:ext cx="0" cy="602903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504950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Source Complet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400" y="1722090"/>
            <a:ext cx="393477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Dépôt GitHub avec structure modulaire et documentation complète.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2107853"/>
            <a:ext cx="4124325" cy="602903"/>
          </a:xfrm>
          <a:prstGeom prst="roundRect">
            <a:avLst>
              <a:gd name="adj" fmla="val 12639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2107853"/>
            <a:ext cx="0" cy="602903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400" y="2222153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Artefacts du Modèle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3400" y="2439293"/>
            <a:ext cx="393477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Modèle entraîné avec pipeline de prétraitement et métadonnées.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2825055"/>
            <a:ext cx="4124325" cy="602903"/>
          </a:xfrm>
          <a:prstGeom prst="roundRect">
            <a:avLst>
              <a:gd name="adj" fmla="val 12639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825055"/>
            <a:ext cx="0" cy="602903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400" y="2939355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 Docker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3400" y="3156496"/>
            <a:ext cx="393477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Dockerfiles et orchestration Docker Compose pour tous les services.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38675" y="1390650"/>
            <a:ext cx="4124325" cy="602903"/>
          </a:xfrm>
          <a:prstGeom prst="roundRect">
            <a:avLst>
              <a:gd name="adj" fmla="val 12639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57725" y="1390650"/>
            <a:ext cx="0" cy="602903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075" y="1504950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 Technique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91075" y="1722090"/>
            <a:ext cx="393477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READMEs détaillés par composant avec guides d'installation.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38675" y="2107853"/>
            <a:ext cx="4124325" cy="602903"/>
          </a:xfrm>
          <a:prstGeom prst="roundRect">
            <a:avLst>
              <a:gd name="adj" fmla="val 12639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57725" y="2107853"/>
            <a:ext cx="0" cy="602903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075" y="2222153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 Utilisateur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91075" y="2439293"/>
            <a:ext cx="393477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React avec backend WebSocket et alertes en temps réel.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38675" y="2825055"/>
            <a:ext cx="4124325" cy="602903"/>
          </a:xfrm>
          <a:prstGeom prst="roundRect">
            <a:avLst>
              <a:gd name="adj" fmla="val 12639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57725" y="2825055"/>
            <a:ext cx="0" cy="602903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075" y="2939355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 et Validation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91075" y="3156496"/>
            <a:ext cx="393477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de tests unitaires et scripts de validation complets.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Défis et Solutions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90650"/>
            <a:ext cx="4133850" cy="580876"/>
          </a:xfrm>
          <a:prstGeom prst="roundRect">
            <a:avLst>
              <a:gd name="adj" fmla="val 13118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390650"/>
            <a:ext cx="0" cy="580876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504950"/>
            <a:ext cx="394449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Défi: Sérialisation du modèle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33400" y="1710630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Solution: Utilisation correcte de Joblib avec validation des artefacts.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629150" y="1390650"/>
            <a:ext cx="4133850" cy="580876"/>
          </a:xfrm>
          <a:prstGeom prst="roundRect">
            <a:avLst>
              <a:gd name="adj" fmla="val 13118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48200" y="1390650"/>
            <a:ext cx="0" cy="580876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1550" y="1504950"/>
            <a:ext cx="394449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Défi: Synchronisation services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81550" y="1710630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Solution: Architecture pub/sub avec Redis garantissant l'ordre des messages.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2085826"/>
            <a:ext cx="4133850" cy="580876"/>
          </a:xfrm>
          <a:prstGeom prst="roundRect">
            <a:avLst>
              <a:gd name="adj" fmla="val 13118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085826"/>
            <a:ext cx="0" cy="580876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400" y="2200126"/>
            <a:ext cx="394449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Défi: Dépendances conteneurs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33400" y="2405807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Solution: Health checks Docker et scripts d'attente pour ordre de démarrage.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29150" y="2085826"/>
            <a:ext cx="4133850" cy="580876"/>
          </a:xfrm>
          <a:prstGeom prst="roundRect">
            <a:avLst>
              <a:gd name="adj" fmla="val 13118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48200" y="2085826"/>
            <a:ext cx="0" cy="580876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1550" y="2200126"/>
            <a:ext cx="394449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Défi: Visualisation temps réel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781550" y="2405807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Solution: WebSocket avec mise en tampon et limitation du débit de mise à jour.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81000" y="2781002"/>
            <a:ext cx="8382000" cy="636240"/>
          </a:xfrm>
          <a:prstGeom prst="roundRect">
            <a:avLst>
              <a:gd name="adj" fmla="val 11977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5300" y="2895302"/>
            <a:ext cx="83164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Leçons Apprises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5300" y="3131493"/>
            <a:ext cx="83164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ML avant déploiement • Architecture découplée facilite maintenance • Tests automatisés cruciaux pour fiabilité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77031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et Perspectives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90650"/>
            <a:ext cx="4124325" cy="3086100"/>
          </a:xfrm>
          <a:prstGeom prst="roundRect">
            <a:avLst>
              <a:gd name="adj" fmla="val 2469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390650"/>
            <a:ext cx="0" cy="308610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2450" y="1524000"/>
            <a:ext cx="38959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Réalisations Clés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52450" y="1790700"/>
            <a:ext cx="389591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MLOps fonctionnel • 99% de précision • Architecture scalable • Interface temps réel • Documentation complète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38675" y="1390650"/>
            <a:ext cx="4124325" cy="3086100"/>
          </a:xfrm>
          <a:prstGeom prst="roundRect">
            <a:avLst>
              <a:gd name="adj" fmla="val 2469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57725" y="1390650"/>
            <a:ext cx="0" cy="3086100"/>
          </a:xfrm>
          <a:prstGeom prst="line">
            <a:avLst/>
          </a:prstGeom>
          <a:noFill/>
          <a:ln w="38100">
            <a:solidFill>
              <a:srgbClr val="7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0125" y="1524000"/>
            <a:ext cx="38959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Travaux Futurs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810125" y="1790700"/>
            <a:ext cx="38959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 multi-classes • Réentraînement automatique • Déploiement Kubernetes • Intégration Grafana/Prometheus • Notifications enrichies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2726" y="604093"/>
            <a:ext cx="209854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1800"/>
              </a:spcAft>
              <a:buNone/>
            </a:pPr>
            <a:r>
              <a:rPr lang="en-US" sz="45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318701" y="1404193"/>
            <a:ext cx="25065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3000"/>
              </a:spcAft>
              <a:buNone/>
            </a:pPr>
            <a:r>
              <a:rPr lang="en-US" sz="1800" dirty="0">
                <a:solidFill>
                  <a:srgbClr val="E8EA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et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19958" y="2089993"/>
            <a:ext cx="4104084" cy="1657052"/>
          </a:xfrm>
          <a:prstGeom prst="roundRect">
            <a:avLst>
              <a:gd name="adj" fmla="val 4599"/>
            </a:avLst>
          </a:prstGeom>
          <a:solidFill>
            <a:srgbClr val="1A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12089" y="2356693"/>
            <a:ext cx="37198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Dépôt GitHub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712089" y="2568029"/>
            <a:ext cx="37198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github.com/Hil-one/IDS_ML-Ops_System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748558" y="2920454"/>
            <a:ext cx="3646884" cy="9525"/>
          </a:xfrm>
          <a:prstGeom prst="rect">
            <a:avLst/>
          </a:prstGeom>
          <a:solidFill>
            <a:srgbClr val="3949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12089" y="3082379"/>
            <a:ext cx="37198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712089" y="3293715"/>
            <a:ext cx="37198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 complet • Guides d'installation • Documentation API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78917" y="4128046"/>
            <a:ext cx="418616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CSI 4539 - Automne 2025</a:t>
            </a:r>
            <a:endParaRPr lang="en-US" sz="1050" dirty="0"/>
          </a:p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8EA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Université d'Ottawa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2025-12-02T19:45:37Z</dcterms:created>
  <dcterms:modified xsi:type="dcterms:W3CDTF">2025-12-02T19:45:37Z</dcterms:modified>
</cp:coreProperties>
</file>